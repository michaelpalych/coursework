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Lato" panose="020B0604020202020204" charset="0"/>
      <p:regular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84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268"/>
            <a:ext cx="13061633" cy="140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ru-RU" sz="4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Курсовая работа на тему: э</a:t>
            </a:r>
            <a:r>
              <a:rPr lang="en-US" sz="4400" b="1" dirty="0" err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кспертные</a:t>
            </a:r>
            <a:r>
              <a:rPr lang="en-US" sz="4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</a:t>
            </a:r>
            <a:r>
              <a:rPr lang="en-US" sz="4400" b="1" dirty="0" err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системы</a:t>
            </a:r>
            <a:r>
              <a:rPr lang="ru-RU" sz="4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,</a:t>
            </a:r>
            <a:r>
              <a:rPr lang="en-US" sz="4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реализация и сравнение на примерах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2465070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Сравнительный анализ и тестирование экспертных систем, реализованных на Python Experta, Python Kanren и Prolog.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4384" y="3277314"/>
            <a:ext cx="7618214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Автор: </a:t>
            </a:r>
            <a:r>
              <a:rPr lang="ru-RU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Сегал Илья Михайлович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4384" y="3714155"/>
            <a:ext cx="7618214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Группа: </a:t>
            </a:r>
            <a:r>
              <a:rPr lang="ru-RU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ИстБд-22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4384" y="4150995"/>
            <a:ext cx="7618214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Дисциплина: </a:t>
            </a:r>
            <a:r>
              <a:rPr lang="ru-RU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Алгоритмы и структуры данных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4384" y="4587835"/>
            <a:ext cx="7618214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Преподаватель: </a:t>
            </a:r>
            <a:r>
              <a:rPr lang="ru-RU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Шишкин Вадим </a:t>
            </a:r>
            <a:r>
              <a:rPr lang="ru-RU" sz="175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Викторинович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4384" y="5024676"/>
            <a:ext cx="7618214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Год: </a:t>
            </a:r>
            <a:r>
              <a:rPr lang="ru-RU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2025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953" y="3327678"/>
            <a:ext cx="1120616" cy="13446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01645" y="3551753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База знаний</a:t>
            </a:r>
            <a:endParaRPr lang="en-US" sz="2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953" y="4672370"/>
            <a:ext cx="1120616" cy="13446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01645" y="489644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Механизм вывода</a:t>
            </a:r>
            <a:endParaRPr lang="en-US" sz="2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6953" y="6017062"/>
            <a:ext cx="1120616" cy="13446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01645" y="6241137"/>
            <a:ext cx="353210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Рекомендация/Диагноз</a:t>
            </a:r>
            <a:endParaRPr lang="en-US" sz="2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D4FC2FC-DC22-49B8-B107-7DA2184D9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1950" y="7496175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608" y="392787"/>
            <a:ext cx="6197798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Что такое экспертная система (ЭС)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6608" y="1105138"/>
            <a:ext cx="13657183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Экспертная система — это программная система, которая имитирует рассуждения эксперта в узкой предметной области и выдает решение (рекомендацию/класс/диагноз) на основе базы знаний и механизма вывода.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86608" y="1845231"/>
            <a:ext cx="294655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Ключевые компоненты ЭС: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6608" y="2244923"/>
            <a:ext cx="6659047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База знаний (Knowledge Base)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правила и факты предметной области.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6608" y="2515910"/>
            <a:ext cx="66590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Рабочая память (Working Memory)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факты, полученные от пользователя (ввод/анкета/симптомы/условия).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6608" y="3009305"/>
            <a:ext cx="66590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Механизм вывода (Inference Engine)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логика, которая применяет правила к фактам и получает вывод.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6608" y="3502700"/>
            <a:ext cx="6659047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Подсистема объяснения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формулирует “почему получен такой вывод” (trace/пояснение).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713" y="1862614"/>
            <a:ext cx="695087" cy="8341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65746" y="2001560"/>
            <a:ext cx="191059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Факты пользователя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713" y="2696766"/>
            <a:ext cx="695087" cy="8341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65746" y="2835712"/>
            <a:ext cx="173783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Рабочая память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713" y="3530918"/>
            <a:ext cx="695087" cy="8341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65746" y="3669863"/>
            <a:ext cx="199524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Правила/База знаний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1713" y="4365069"/>
            <a:ext cx="695087" cy="8341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65746" y="4504015"/>
            <a:ext cx="173783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Механизм вывода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1713" y="5199221"/>
            <a:ext cx="695087" cy="8341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65746" y="5338167"/>
            <a:ext cx="218229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Результат + объяснение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95087" y="6554510"/>
            <a:ext cx="20854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Связь с проектом: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95087" y="7023735"/>
            <a:ext cx="13448705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 Stack ES (Python + Experta):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правила </a:t>
            </a:r>
            <a:r>
              <a:rPr lang="en-US" sz="10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@Rule(...)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срабатывают при совпадении условий → прямой вывод (forward chaining).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95087" y="7294721"/>
            <a:ext cx="13448705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Medical Triage ES (Python + kanren):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знания как факты </a:t>
            </a:r>
            <a:r>
              <a:rPr lang="en-US" sz="10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логический запрос </a:t>
            </a:r>
            <a:r>
              <a:rPr lang="en-US" sz="10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логический поиск решений.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95087" y="7565708"/>
            <a:ext cx="13448705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Plants ES (Prolog):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предикаты + цель </a:t>
            </a:r>
            <a:r>
              <a:rPr lang="en-US" sz="10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choose_plant(Plant)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обратный вывод (backward chaining) с “доказательством” цели.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86608" y="6346031"/>
            <a:ext cx="15240" cy="1490663"/>
          </a:xfrm>
          <a:prstGeom prst="rect">
            <a:avLst/>
          </a:prstGeom>
          <a:solidFill>
            <a:srgbClr val="282824"/>
          </a:solidFill>
          <a:ln/>
        </p:spPr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B4F4447-1038-43A8-A175-CE6222F4DD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70610" y="7387838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577" y="499467"/>
            <a:ext cx="9353431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Обзор проекта: три экспертные системы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17577" y="1403866"/>
            <a:ext cx="13395246" cy="5157430"/>
          </a:xfrm>
          <a:prstGeom prst="roundRect">
            <a:avLst>
              <a:gd name="adj" fmla="val 51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5197" y="1411486"/>
            <a:ext cx="13380006" cy="5092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02005" y="1524953"/>
            <a:ext cx="23192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81745" y="1524953"/>
            <a:ext cx="231540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Язык/библиотека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57674" y="1524953"/>
            <a:ext cx="231540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Представление знаний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833604" y="1524953"/>
            <a:ext cx="231540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Механизм вывода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09534" y="1524953"/>
            <a:ext cx="23192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Тестирование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197" y="1920716"/>
            <a:ext cx="13380006" cy="16384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02005" y="2034183"/>
            <a:ext cx="23192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81745" y="2034183"/>
            <a:ext cx="231540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Python, </a:t>
            </a: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57674" y="2034183"/>
            <a:ext cx="2315408" cy="1129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Факты Project/Backend/Frontend/Database/Infra/Extra/Recommendation, правила @Rule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33604" y="2034183"/>
            <a:ext cx="2315408" cy="141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Прямой вывод: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engine.reset() → declare(Project) → engine.run()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сбор Recommendation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09534" y="2034183"/>
            <a:ext cx="231921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YAML тесты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tests_tech_stack.yaml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скрипт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test.py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197" y="3559135"/>
            <a:ext cx="13380006" cy="16384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2005" y="3672602"/>
            <a:ext cx="23192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Medical Triage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81745" y="3672602"/>
            <a:ext cx="231540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Python, </a:t>
            </a: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kanren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57674" y="3672602"/>
            <a:ext cx="231540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 rule_urgency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facts(rule_urgency, (urgency, flag, text))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33604" y="3672602"/>
            <a:ext cx="2315408" cy="141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Логический вывод: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infer_flags_from_symptoms → запрос run()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выбор приоритетного уровня срочности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09534" y="3672602"/>
            <a:ext cx="2319218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YAML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test_cases.yml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прогон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pytestsyaml.py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5197" y="5197554"/>
            <a:ext cx="13380006" cy="13561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02005" y="5311021"/>
            <a:ext cx="23192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81745" y="5311021"/>
            <a:ext cx="231540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Prolog (SWI-Prolog)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57674" y="5311021"/>
            <a:ext cx="2315408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Предикаты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plant/1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динамическая память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known/2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33604" y="5311021"/>
            <a:ext cx="2315408" cy="1129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Обратный вывод: цель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choose_plant(Plant)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доказывается через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plant(Plant)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509534" y="5311021"/>
            <a:ext cx="23192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plant_tests.pl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(plunit)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17577" y="6759773"/>
            <a:ext cx="13395246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Python-ЭС удобно показывать UI (Tkinter) и интегрировать YAML тесты.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7577" y="7103745"/>
            <a:ext cx="13395246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kanren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Prolog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ближе к декларативной логике.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7577" y="7447717"/>
            <a:ext cx="13395246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Все системы объясняют вывод (по-разному).</a:t>
            </a:r>
            <a:endParaRPr lang="en-US" sz="135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CB48480-F26C-41E4-9F46-D35E3A1A7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9331" y="7386042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897" y="739973"/>
            <a:ext cx="12442865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Экспертная система выбора технологического стека (Tech Stack 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5897" y="1249561"/>
            <a:ext cx="216860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Цель системы: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5897" y="1737360"/>
            <a:ext cx="13618607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получает описание проекта и автоматически рекомендует: backend фреймворк, подход к frontend, базу данных, инфраструктуру деплоя/масштабирования, а также формирует текстовые объяснения причин выбора.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5897" y="2506980"/>
            <a:ext cx="4105751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Входные параметры (анкета Project):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5897" y="2922508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kind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(тип проекта: landing/shop/saas/api/internal/...)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5897" y="3204210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(масштаб: small/medium/large)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5897" y="3485912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(сроки: urgent/normal/long)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5897" y="3767614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team_skill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(уровень команды: junior/middle/senior)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5897" y="4049316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realtime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(нужны real-time функции: yes/no)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5897" y="4331018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admin_panel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(нужна админка: yes/no)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5897" y="4612719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mobile_needed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(нужно мобильное приложение: yes/no)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5897" y="4894421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seo_critical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(критично SEO: yes/no)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5897" y="5176123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analytics_needed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(нужна аналитика: yes/no)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5897" y="5457825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budget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(бюджет: low/medium/high)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5897" y="5739527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long_lived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(долгоживущий продукт: yes/no)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9152" y="2506980"/>
            <a:ext cx="3424357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Выход (структура результата):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99152" y="2922508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Backend(name=...)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9152" y="3204210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Frontend(name=...)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9152" y="3485912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Database(name=...)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9152" y="3767614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Infra(description=...)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9152" y="4049316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Extra(note=...)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9152" y="4331018"/>
            <a:ext cx="66329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Финально: </a:t>
            </a: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Recommendation(backend, frontend, database, infra)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список объяснений.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152" y="4724876"/>
            <a:ext cx="722828" cy="86737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366522" y="4869418"/>
            <a:ext cx="1807131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анкета</a:t>
            </a:r>
            <a:endParaRPr lang="en-US" sz="14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152" y="5592247"/>
            <a:ext cx="722828" cy="86737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366522" y="5736788"/>
            <a:ext cx="1807131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Правила</a:t>
            </a:r>
            <a:endParaRPr lang="en-US" sz="14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152" y="6459617"/>
            <a:ext cx="722828" cy="86737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66522" y="6604159"/>
            <a:ext cx="1807131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Рекомендации</a:t>
            </a:r>
            <a:endParaRPr lang="en-US" sz="14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89D2DCF-8BFF-462B-83EB-D96A7C2A0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1950" y="7449870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BADACB-6631-468F-AE1C-73D49D69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950" y="7415626"/>
            <a:ext cx="2838450" cy="7334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01D66E-A60B-4A47-BE91-625EA02E4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99" y="1428542"/>
            <a:ext cx="8380343" cy="464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1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574" y="701873"/>
            <a:ext cx="11184017" cy="52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База знаний Tech Stack ES: факты + правила (Experta)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2574" y="1654135"/>
            <a:ext cx="4618792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Факты (Facts) — что система “знает”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92574" y="2140863"/>
            <a:ext cx="651617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Project(...)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факты о проекте.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2574" y="2470904"/>
            <a:ext cx="6516172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Промежуточные/итоговые: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Backend(name)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выбранный backend,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Frontend(name)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выбранный подход к фронтенду,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Database(name)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БД,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Infra(description)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инфраструктура,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Extra(note)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дополнительные рекомендации,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Recommendation(...)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финальная сборка.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29274" y="1654135"/>
            <a:ext cx="4290655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Правила (Rules) — логика выбора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29274" y="2140863"/>
            <a:ext cx="6516172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backend_landing_seo: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kind=landing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seo_critical=yes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backend: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(server-side templates)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(SSR, SEO).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29274" y="2741771"/>
            <a:ext cx="6516172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backend_landing_frontend: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landing без SEO-критичности → backend: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или FastAPI как API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фронтенд отдельно.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29274" y="3342680"/>
            <a:ext cx="6516172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backend_shop: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kind=shop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+ Django REST Framework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(типичный e-commerce).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29274" y="3943588"/>
            <a:ext cx="651617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backend_saas_rt: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kind=saas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realtime=yes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FastAPI (async + WebSocket)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29274" y="4273629"/>
            <a:ext cx="651617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backend_saas_simple: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kind=saas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realtime=no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+ DRF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29274" y="4603671"/>
            <a:ext cx="651617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backend_api_rt: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kind=api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realtime=yes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FastAPI (async)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29274" y="4933712"/>
            <a:ext cx="6516172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backend_api_simple: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kind=api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realtime=no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FastAPI или DRF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(простое API).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29274" y="5534620"/>
            <a:ext cx="651617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backend_internal: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kind=internal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admin_panel=yes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(admin)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29274" y="5864662"/>
            <a:ext cx="6516172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backend_fallback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(низкий приоритет): если ничего не подошло → </a:t>
            </a: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Django по умолчанию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29274" y="6465570"/>
            <a:ext cx="6516172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gather_recommendation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(самый низкий приоритет): собирает Recommendation из найденных фактов.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574" y="7256859"/>
            <a:ext cx="13445252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Experta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это rule engine: правила срабатывают при совпадении условий и добавляют новые факты.</a:t>
            </a:r>
            <a:endParaRPr lang="en-US" sz="13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381223-3F0B-420D-A8A2-E10F9EB0C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591" y="7454383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118" y="443270"/>
            <a:ext cx="8797290" cy="50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Как работает вывод в Tech Stack ES (Experta)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4118" y="1349812"/>
            <a:ext cx="2418040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Алгоритм: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4118" y="1833324"/>
            <a:ext cx="6554510" cy="3078480"/>
          </a:xfrm>
          <a:prstGeom prst="roundRect">
            <a:avLst>
              <a:gd name="adj" fmla="val 785"/>
            </a:avLst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556141" y="1833324"/>
            <a:ext cx="6570464" cy="3078480"/>
          </a:xfrm>
          <a:prstGeom prst="roundRect">
            <a:avLst>
              <a:gd name="adj" fmla="val 785"/>
            </a:avLst>
          </a:prstGeom>
          <a:solidFill>
            <a:srgbClr val="E2DFD9"/>
          </a:solidFill>
          <a:ln/>
        </p:spPr>
      </p:sp>
      <p:sp>
        <p:nvSpPr>
          <p:cNvPr id="6" name="Text 4"/>
          <p:cNvSpPr/>
          <p:nvPr/>
        </p:nvSpPr>
        <p:spPr>
          <a:xfrm>
            <a:off x="717233" y="1954173"/>
            <a:ext cx="6248281" cy="283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 engine.reset() // очистка рабочей памяти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2. engine.declare(Project(**params)) // добавление факта анкеты проекта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3. engine.run() // запуск прямого вывода: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- engine перебирает правила @Rule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- если условия совпали → правило "стреляет"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и добавляет новые факты (Backend, Frontend, ...)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4. После получения необходимых фактов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срабатывает финальное правило gather_recommendation: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- читает Backend(name), Frontend(name), Database(name), Infra(description)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- создает Recommendation(backend, frontend, database, infra)</a:t>
            </a:r>
            <a:endParaRPr lang="en-US" sz="12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392" y="1370052"/>
            <a:ext cx="805934" cy="9671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86418" y="1531144"/>
            <a:ext cx="201501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Условия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392" y="2337197"/>
            <a:ext cx="805934" cy="9671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86418" y="2498288"/>
            <a:ext cx="201501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Факты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392" y="3304342"/>
            <a:ext cx="805934" cy="9671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86418" y="3465433"/>
            <a:ext cx="201501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519392" y="4452818"/>
            <a:ext cx="2418040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Объяснимость: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7519392" y="4916091"/>
            <a:ext cx="6554510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системе ведется список </a:t>
            </a:r>
            <a:r>
              <a:rPr lang="en-US" sz="12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explanations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519392" y="5230297"/>
            <a:ext cx="6554510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Каждое правило добавляет текст причины через метод вида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explain("...")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519392" y="5552123"/>
            <a:ext cx="6554510" cy="515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Итог пользователю показывается как: “Рекомендация + почему” (несколько строк).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64118" y="6365915"/>
            <a:ext cx="2729508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Приоритеты (salience):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64118" y="6909792"/>
            <a:ext cx="13502164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Некоторые правила имеют высокий приоритет, чтобы сработать раньше (например специализированные случаи).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4118" y="7223998"/>
            <a:ext cx="13502164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Fallback-правила имеют низкий приоритет (например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salience=-5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), чтобы сработать только если нет более точного совпадения.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64118" y="7545824"/>
            <a:ext cx="13502164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Финальная сборка рекомендаций имеет самый низкий приоритет (например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salience=-20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), чтобы выполняться после выбора всех компонентов.</a:t>
            </a:r>
            <a:endParaRPr lang="en-US" sz="12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38B861E-DE65-48F0-9D31-8306A3F46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1950" y="7481888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428" y="444222"/>
            <a:ext cx="8813483" cy="50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Тестирование Tech Stack ES (YAML + скрипт)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5428" y="1272302"/>
            <a:ext cx="1349954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Тесты описаны в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tests_tech_stack.yaml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в виде набора сценариев. Каждый сценарий содержит: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5428" y="1720096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идентификатор теста,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5428" y="2035016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description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смысл кейса,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5428" y="2349937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входные параметры анкеты,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5428" y="2664857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expect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ожидаемые рекомендации (backend/frontend/database/infra).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5428" y="3165634"/>
            <a:ext cx="3366373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Как запускается проверка: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5428" y="3710940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Прочитать YAML.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5428" y="4025860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 каждого теста: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5428" y="4340781"/>
            <a:ext cx="1349954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вызвать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recommend_stack(project)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5428" y="4663321"/>
            <a:ext cx="1349954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сравнить полученные поля с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5428" y="4985861"/>
            <a:ext cx="1349954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вывести PASS/FAIL + краткое расхождение.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5428" y="5426035"/>
            <a:ext cx="4392097" cy="2364224"/>
          </a:xfrm>
          <a:prstGeom prst="roundRect">
            <a:avLst>
              <a:gd name="adj" fmla="val 1025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8288" y="5448895"/>
            <a:ext cx="4346377" cy="48470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2640330" y="5539740"/>
            <a:ext cx="242292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56" y="6095167"/>
            <a:ext cx="207359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Кейс A: Landing + SEO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9856" y="6444496"/>
            <a:ext cx="4023241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kind=landing, seo_critical=yes, team_skill=middle, deadline=normal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56" y="7073622"/>
            <a:ext cx="4023241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Ожидается: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= “Django (server-side templates)”, фронт = “SSR/HTML”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19092" y="5426035"/>
            <a:ext cx="4392097" cy="2364224"/>
          </a:xfrm>
          <a:prstGeom prst="roundRect">
            <a:avLst>
              <a:gd name="adj" fmla="val 1025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1952" y="5448895"/>
            <a:ext cx="4346377" cy="48470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2" name="Text 20"/>
          <p:cNvSpPr/>
          <p:nvPr/>
        </p:nvSpPr>
        <p:spPr>
          <a:xfrm>
            <a:off x="7193994" y="5539740"/>
            <a:ext cx="242292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303520" y="6095167"/>
            <a:ext cx="215217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Кейс B: SaaS + realtime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303520" y="6444496"/>
            <a:ext cx="402324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kind=saas, realtime=yes, scale=medium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03520" y="6807517"/>
            <a:ext cx="4023241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Ожидается: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= “FastAPI (async + WebSocket)”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72757" y="5426035"/>
            <a:ext cx="4392097" cy="2364224"/>
          </a:xfrm>
          <a:prstGeom prst="roundRect">
            <a:avLst>
              <a:gd name="adj" fmla="val 1025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5617" y="5448895"/>
            <a:ext cx="4346377" cy="48470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8" name="Text 26"/>
          <p:cNvSpPr/>
          <p:nvPr/>
        </p:nvSpPr>
        <p:spPr>
          <a:xfrm>
            <a:off x="11747659" y="5539740"/>
            <a:ext cx="242292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857184" y="6095167"/>
            <a:ext cx="282547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Кейс C: Internal + admin_panel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857184" y="6444496"/>
            <a:ext cx="402324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kind=internal, admin_panel=yes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857184" y="6807517"/>
            <a:ext cx="4023241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Ожидается:</a:t>
            </a: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backend = “Django (admin)”</a:t>
            </a:r>
            <a:endParaRPr lang="en-US" sz="125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857CCA8-4CF3-4E6E-AE74-3881075D9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3894" y="7813118"/>
            <a:ext cx="1766506" cy="39712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CDA9084-E5ED-4E35-ABD5-8C4D84DEA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523" y="2111812"/>
            <a:ext cx="5494758" cy="2523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383" y="464701"/>
            <a:ext cx="13447633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Экспертная система медицинской сортировки (Medical Triage ES)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1383" y="1858685"/>
            <a:ext cx="1344763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Назначение: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Система по набору симптомов оценивает уровень срочности обращения: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1383" y="2318980"/>
            <a:ext cx="1344763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emergency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требуется экстренная помощь,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1383" y="2648307"/>
            <a:ext cx="1344763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urgent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срочно обратиться к врачу,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1383" y="2977634"/>
            <a:ext cx="1344763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doctor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плановый визит к врачу,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1383" y="3306961"/>
            <a:ext cx="1344763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home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домашнее наблюдение (низкий риск).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1383" y="3767257"/>
            <a:ext cx="13447633" cy="717828"/>
          </a:xfrm>
          <a:prstGeom prst="roundRect">
            <a:avLst>
              <a:gd name="adj" fmla="val 3531"/>
            </a:avLst>
          </a:prstGeom>
          <a:solidFill>
            <a:srgbClr val="DBDBD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33" y="4028599"/>
            <a:ext cx="211217" cy="1689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0500" y="3978354"/>
            <a:ext cx="12729567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Дисклеймер:</a:t>
            </a:r>
            <a:r>
              <a:rPr lang="en-US" sz="13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Система учебная и не заменяет врача; результат — пример логического вывода, а не медицинский диагноз.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1383" y="4738449"/>
            <a:ext cx="533852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Входные данные (симптомы/признаки):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1383" y="5460683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(число)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1383" y="5790009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fever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(температура/есть ли жар)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1383" y="6119336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(none/mild/moderate/severe)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1383" y="6448663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chest_pain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(боль в груди: yes/no)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1383" y="6777990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breath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(затруднение дыхания: yes/no)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1383" y="7107317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confusion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(спутанность сознания: yes/no)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1383" y="7436644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dehydration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(признаки обезвоживания: yes/no)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28917" y="5460683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rash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(сыпь: yes/no)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28917" y="5790009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abd_pain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(боль в животе: yes/no)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28917" y="6119336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head_trauma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(травма головы: yes/no)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28917" y="6448663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bleeding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(кровотечение: yes/no)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28917" y="6777990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pregnancy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(беременность: yes/no)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28917" y="7107317"/>
            <a:ext cx="651771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chronic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(хронические заболевания: yes/no)</a:t>
            </a:r>
            <a:endParaRPr lang="en-US" sz="13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9194DED-067C-420E-81C2-C59011D5C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950" y="7496175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872" y="501729"/>
            <a:ext cx="8814673" cy="44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База знаний Medical Triage ES: rule_urgency (kanren)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8872" y="1232178"/>
            <a:ext cx="13632656" cy="463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Главная идея: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Знания заданы как набор фактов в </a:t>
            </a: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Relation: rule_urgency(URGENCY, FLAG, TEXT_EXPLANATION)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где </a:t>
            </a: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логический признак, полученный из симптомов, а </a:t>
            </a: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URGENCY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уровень срочности.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8872" y="1998583"/>
            <a:ext cx="2348746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Факты для emergency: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8872" y="2408396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breathing_difficulty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“Затруднение дыхания — потенциально опасное состояние”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8872" y="2686288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chest_pain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“Боль в груди требует исключения критических причин”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8872" y="2964180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confusion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“Спутанность сознания — признак тяжелого состояния”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872" y="3242072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head_trauma_with_symptoms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“Травма головы с симптомами — риск осложнений”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872" y="3519964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bleeding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“Кровотечение требует экстренной оценки”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872" y="3797856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very_high_fever_infant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“Очень высокая температура у младенца опасна”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872" y="4075748"/>
            <a:ext cx="6642497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very_high_fever_elderly_chronic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emergency: “Очень высокая температура у пожилого/с хроническими рисками опасна”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6651" y="1998583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Факты для urgent: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96651" y="2408396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high_fever_child, high_fever_adult, high_fever_elderly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6651" y="2686288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severe_pain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6651" y="2964180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abdominal_pain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6651" y="3242072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rash_with_high_fever, rash_with_mild_fever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6651" y="3519964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pregnancy_moderate_symptoms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6651" y="3797856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high_fever_chronic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6651" y="4075748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dehydration_with_fever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6651" y="4446270"/>
            <a:ext cx="213812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doctor / home: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6651" y="4856083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moderate_pain, mild_fever_chronic, rash_without_fever, dehydration_without_fever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doctor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6651" y="5133975"/>
            <a:ext cx="664249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low_risk</a:t>
            </a: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home</a:t>
            </a:r>
            <a:endParaRPr lang="en-US" sz="11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72" y="5572125"/>
            <a:ext cx="6816328" cy="57007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1390" y="6284714"/>
            <a:ext cx="1781770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Symptoms</a:t>
            </a:r>
            <a:endParaRPr lang="en-US" sz="14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572125"/>
            <a:ext cx="6816328" cy="57007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57718" y="6284714"/>
            <a:ext cx="1781770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Flags</a:t>
            </a:r>
            <a:endParaRPr lang="en-US" sz="1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72" y="6649998"/>
            <a:ext cx="6816328" cy="57007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1390" y="7362587"/>
            <a:ext cx="1781770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Relation facts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6649998"/>
            <a:ext cx="6816328" cy="57007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57718" y="7362587"/>
            <a:ext cx="1781770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Urgency + Text</a:t>
            </a:r>
            <a:endParaRPr lang="en-US" sz="14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0CD04BEF-4F6B-44E8-9615-6C4A951BC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1950" y="7541207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3731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Механизм вывода в Medical Triage ES (kanren)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kanren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механизм вывода основан на логическом поиске (logic programming) и сопоставлении паттернов.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44441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Основные шаги: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6835" y="162710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Трансформация симптомов в логические флаги: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Пользовательские симптомы (например,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age=5, fever=39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 преобразуются в набор булевых флагов (например,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is_child, has_high_fever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6835" y="192688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Формирование логического запроса: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На основе флагов ищется совпадение с записями в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rule_urgency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через функцию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6834" y="227760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Определение приоритета: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Результатом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будет список возможных уровней срочности. Система выбирает наиболее критичный уровень </a:t>
            </a:r>
            <a:r>
              <a:rPr lang="en-US" sz="13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основе</a:t>
            </a:r>
            <a:endParaRPr lang="ru-RU" sz="13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предопределенного порядка приоритетов (emergency &gt; urgent &gt; doctor &gt; home).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4587" y="2888456"/>
            <a:ext cx="13621226" cy="5080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D68BEC6-7745-4509-884F-5C9C191E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950" y="7496175"/>
            <a:ext cx="2838450" cy="7334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F716CD3-CD99-44BA-B611-712ADF514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147" y="2820204"/>
            <a:ext cx="7571731" cy="51236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812" y="461843"/>
            <a:ext cx="9425464" cy="524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Тестирование Medical Triage ES (YAML кейсы)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7812" y="1322546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Файл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test_cases.yml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содержит список сценариев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medical_triage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Каждый сценарий включает: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7812" y="1780103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уникальный идентификатор теста.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7812" y="2107525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значения симптомов (например,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fever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7812" y="2434947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expected_urgency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ожидаемый уровень срочности (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doctor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7812" y="2955488"/>
            <a:ext cx="306062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Процесс тестирования: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7812" y="3522226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Скрипт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pytestsyaml.py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читает YAML-файл.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7812" y="3849648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 каждого сценария: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7812" y="4177070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Формирует словарь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из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7812" y="4504492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Вызывает функцию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infer_urgency_and_text(symptoms)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7812" y="4831913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Сравнивает полученный уровень срочности с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expected_urgency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7812" y="5159335"/>
            <a:ext cx="13454777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Выводит статус (PASS/FAIL) и финальную статистику.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7812" y="5616892"/>
            <a:ext cx="4372928" cy="2155150"/>
          </a:xfrm>
          <a:prstGeom prst="roundRect">
            <a:avLst>
              <a:gd name="adj" fmla="val 1169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672" y="5639753"/>
            <a:ext cx="4327208" cy="50375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2648307" y="5734169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78550" y="6311384"/>
            <a:ext cx="2361248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Экстренная ситуация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550" y="6674406"/>
            <a:ext cx="3991451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breath=yes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8550" y="7043857"/>
            <a:ext cx="3991451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8617" y="5616892"/>
            <a:ext cx="4373047" cy="2155150"/>
          </a:xfrm>
          <a:prstGeom prst="roundRect">
            <a:avLst>
              <a:gd name="adj" fmla="val 1169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1477" y="5639753"/>
            <a:ext cx="4327327" cy="50375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2" name="Text 20"/>
          <p:cNvSpPr/>
          <p:nvPr/>
        </p:nvSpPr>
        <p:spPr>
          <a:xfrm>
            <a:off x="7189232" y="5734169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319355" y="6311384"/>
            <a:ext cx="223277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Срочное обращение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319355" y="6674406"/>
            <a:ext cx="3991570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pain=severe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ИЛИ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abd_pain=yes, pain=moderate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19355" y="7312581"/>
            <a:ext cx="399157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69542" y="5616892"/>
            <a:ext cx="4372928" cy="2155150"/>
          </a:xfrm>
          <a:prstGeom prst="roundRect">
            <a:avLst>
              <a:gd name="adj" fmla="val 1169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402" y="5639753"/>
            <a:ext cx="4327208" cy="50375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8" name="Text 26"/>
          <p:cNvSpPr/>
          <p:nvPr/>
        </p:nvSpPr>
        <p:spPr>
          <a:xfrm>
            <a:off x="11730038" y="5734169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860280" y="6311384"/>
            <a:ext cx="261878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Домашнее наблюдение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860280" y="6674406"/>
            <a:ext cx="3991451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Отсутствие критических признаков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60280" y="7043857"/>
            <a:ext cx="3991451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Ожидается: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13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63B9511-448C-4CB2-9ED1-199BA416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2574" y="7794903"/>
            <a:ext cx="1896303" cy="32285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2014D63-5B83-430F-99F7-0BAE7D203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47" y="907244"/>
            <a:ext cx="4736663" cy="3785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795" y="670679"/>
            <a:ext cx="7773591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Экспертная система подбора растения (Prolog)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2795" y="1333738"/>
            <a:ext cx="13724811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задаёт пользователю вопросы об условиях содержания (свет, влажность, уход, место, наличие питомцев) и на основе ответов подбирает наиболее подходящее растение из своей базы знаний.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2795" y="1734741"/>
            <a:ext cx="3469958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Ключевые элементы реализации: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2795" y="2171224"/>
            <a:ext cx="6797754" cy="1262539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6" name="Shape 4"/>
          <p:cNvSpPr/>
          <p:nvPr/>
        </p:nvSpPr>
        <p:spPr>
          <a:xfrm>
            <a:off x="582097" y="2300526"/>
            <a:ext cx="388025" cy="388025"/>
          </a:xfrm>
          <a:prstGeom prst="roundRect">
            <a:avLst>
              <a:gd name="adj" fmla="val 23563135"/>
            </a:avLst>
          </a:prstGeom>
          <a:solidFill>
            <a:srgbClr val="28282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777" y="2407206"/>
            <a:ext cx="174546" cy="1745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2097" y="2817852"/>
            <a:ext cx="1931313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Динамическая память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2097" y="3097411"/>
            <a:ext cx="6539151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known(Key, Value)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хранит ответы пользователя, позволяя системе "запоминать" информацию.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79851" y="2171224"/>
            <a:ext cx="6797754" cy="1262539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1" name="Shape 8"/>
          <p:cNvSpPr/>
          <p:nvPr/>
        </p:nvSpPr>
        <p:spPr>
          <a:xfrm>
            <a:off x="7509153" y="2300526"/>
            <a:ext cx="388025" cy="388025"/>
          </a:xfrm>
          <a:prstGeom prst="roundRect">
            <a:avLst>
              <a:gd name="adj" fmla="val 23563135"/>
            </a:avLst>
          </a:prstGeom>
          <a:solidFill>
            <a:srgbClr val="28282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5833" y="2407206"/>
            <a:ext cx="174546" cy="17454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9153" y="2817852"/>
            <a:ext cx="2089190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Предикаты базы знаний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09153" y="3097411"/>
            <a:ext cx="6539151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plant(Plant)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содержит правила, описывающие соответствие растений определенным условиям.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2795" y="3563064"/>
            <a:ext cx="6797754" cy="1262539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6" name="Shape 12"/>
          <p:cNvSpPr/>
          <p:nvPr/>
        </p:nvSpPr>
        <p:spPr>
          <a:xfrm>
            <a:off x="582097" y="3692366"/>
            <a:ext cx="388025" cy="388025"/>
          </a:xfrm>
          <a:prstGeom prst="roundRect">
            <a:avLst>
              <a:gd name="adj" fmla="val 23563135"/>
            </a:avLst>
          </a:prstGeom>
          <a:solidFill>
            <a:srgbClr val="28282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777" y="3799046"/>
            <a:ext cx="174546" cy="17454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2097" y="4209693"/>
            <a:ext cx="1617107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Механизм выбора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82097" y="4489252"/>
            <a:ext cx="6539151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choose_plant(Plant) :- plant(Plant), !.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выбирает первое подходящее решение, прерывая поиск.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79851" y="3563064"/>
            <a:ext cx="6797754" cy="1262539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21" name="Shape 16"/>
          <p:cNvSpPr/>
          <p:nvPr/>
        </p:nvSpPr>
        <p:spPr>
          <a:xfrm>
            <a:off x="7509153" y="3692366"/>
            <a:ext cx="388025" cy="388025"/>
          </a:xfrm>
          <a:prstGeom prst="roundRect">
            <a:avLst>
              <a:gd name="adj" fmla="val 23563135"/>
            </a:avLst>
          </a:prstGeom>
          <a:solidFill>
            <a:srgbClr val="28282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5833" y="3799046"/>
            <a:ext cx="174546" cy="17454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09153" y="4209693"/>
            <a:ext cx="2033230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Объяснение результата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09153" y="4489252"/>
            <a:ext cx="6539151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explain(Plant)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выводит причины, по которым было выбрано то или иное растение.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2795" y="5019556"/>
            <a:ext cx="383500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Последовательность запуска (</a:t>
            </a:r>
            <a:r>
              <a:rPr lang="en-US" sz="150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start/0</a:t>
            </a:r>
            <a:r>
              <a:rPr lang="en-US" sz="1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):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452795" y="5456039"/>
            <a:ext cx="129302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2795" y="5660588"/>
            <a:ext cx="4488656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8" name="Text 22"/>
          <p:cNvSpPr/>
          <p:nvPr/>
        </p:nvSpPr>
        <p:spPr>
          <a:xfrm>
            <a:off x="452795" y="5755719"/>
            <a:ext cx="1617107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Очистка памяти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2795" y="6035278"/>
            <a:ext cx="4488656" cy="41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retractall(known(_,_))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Сброс предыдущих ответов пользователя перед новым сеансом.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070753" y="5456039"/>
            <a:ext cx="129302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070753" y="5660588"/>
            <a:ext cx="4488775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32" name="Text 26"/>
          <p:cNvSpPr/>
          <p:nvPr/>
        </p:nvSpPr>
        <p:spPr>
          <a:xfrm>
            <a:off x="5070753" y="5755719"/>
            <a:ext cx="1734264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Опрос пользователя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070753" y="6035278"/>
            <a:ext cx="4488775" cy="41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ask_all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Система последовательно задаёт вопросы для сбора необходимых данных.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688830" y="5456039"/>
            <a:ext cx="129302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688830" y="5660588"/>
            <a:ext cx="4488656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36" name="Text 30"/>
          <p:cNvSpPr/>
          <p:nvPr/>
        </p:nvSpPr>
        <p:spPr>
          <a:xfrm>
            <a:off x="9688830" y="5755719"/>
            <a:ext cx="1617107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Поиск решения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9688830" y="6035278"/>
            <a:ext cx="4488656" cy="41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choose_plant(Plant)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Запускает процесс подбора, основываясь на собранных ответах.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52795" y="6675596"/>
            <a:ext cx="129302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2795" y="6880146"/>
            <a:ext cx="6797635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40" name="Text 34"/>
          <p:cNvSpPr/>
          <p:nvPr/>
        </p:nvSpPr>
        <p:spPr>
          <a:xfrm>
            <a:off x="452795" y="6975277"/>
            <a:ext cx="1617107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Вывод результата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452795" y="7254835"/>
            <a:ext cx="6797635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Печать подобранного растения и вызов </a:t>
            </a: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explain(Plant)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для детализации выбора.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379732" y="6675596"/>
            <a:ext cx="129302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379732" y="6880146"/>
            <a:ext cx="6797754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44" name="Text 38"/>
          <p:cNvSpPr/>
          <p:nvPr/>
        </p:nvSpPr>
        <p:spPr>
          <a:xfrm>
            <a:off x="7379732" y="6975277"/>
            <a:ext cx="268974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Обработка отсутствия решения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7379732" y="7254835"/>
            <a:ext cx="6797754" cy="20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Если подходящего растения не найдено, выводится соответствующее сообщение.</a:t>
            </a:r>
            <a:endParaRPr lang="en-US" sz="1000" dirty="0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94E5C38D-0EFD-42D2-89ED-641E367C8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8479" y="7424381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313" y="323969"/>
            <a:ext cx="7299007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Опрос пользователя и валидация ввода (Prolog)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2313" y="927735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 подбора растения система собирает данные от пользователя, задавая вопросы о предпочтениях и условиях содержания. Введённые ответы проходят обязательную валидацию.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2313" y="1293019"/>
            <a:ext cx="491621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Опрашиваемые параметры и допустимые значения: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2313" y="1690687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light: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medium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bright</a:t>
            </a:r>
            <a:endParaRPr lang="en-US" sz="1400" dirty="0">
              <a:latin typeface="1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2313" y="1920478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humidity: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normal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high</a:t>
            </a:r>
            <a:endParaRPr lang="en-US" sz="1400" dirty="0">
              <a:latin typeface="1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2313" y="2150269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time_for_care: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medium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high</a:t>
            </a:r>
            <a:endParaRPr lang="en-US" sz="1400" dirty="0">
              <a:latin typeface="1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2313" y="2380059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space: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small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medium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large</a:t>
            </a:r>
            <a:endParaRPr lang="en-US" sz="1400" dirty="0">
              <a:latin typeface="1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2313" y="2609850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has_pets: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yes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no</a:t>
            </a:r>
            <a:endParaRPr lang="en-US" sz="1400" dirty="0">
              <a:latin typeface="1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2313" y="2839641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non_toxic_required: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yes</a:t>
            </a:r>
            <a:r>
              <a:rPr lang="en-US" sz="1400" dirty="0">
                <a:solidFill>
                  <a:srgbClr val="4A4A45"/>
                </a:solidFill>
                <a:latin typeface="14"/>
                <a:ea typeface="Lato" pitchFamily="34" charset="-122"/>
                <a:cs typeface="Lato" pitchFamily="34" charset="-120"/>
              </a:rPr>
              <a:t> /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14"/>
                <a:ea typeface="Consolas" pitchFamily="34" charset="-122"/>
                <a:cs typeface="Consolas" pitchFamily="34" charset="-120"/>
              </a:rPr>
              <a:t>no</a:t>
            </a:r>
            <a:endParaRPr lang="en-US" sz="1400" dirty="0">
              <a:latin typeface="1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2313" y="3204924"/>
            <a:ext cx="5713214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Алгоритм предиката </a:t>
            </a:r>
            <a:r>
              <a:rPr lang="en-US" sz="140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ask_param(Key, Question, AllowedValues)</a:t>
            </a: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2313" y="3602593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Вывести пользователю текст вопроса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2313" y="3832384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Считать введенную строку, преобразовать её в нижний регистр и удалить лишние пробелы.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2313" y="4062174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Проверить, входит ли нормализованный ответ в список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AllowedValues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2313" y="4291965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Если ответ корректен: сохранить его как факт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assertz(known(Key, Answer))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в динамической базе знаний.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2313" y="4521756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Если ответ некорректен: вывести сообщение "Некорректный ввод, повторите" и повторить шаг 1.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2313" y="4887039"/>
            <a:ext cx="249043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Процесс валидации ввода:</a:t>
            </a:r>
            <a:endParaRPr lang="en-US" sz="13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13" y="5284708"/>
            <a:ext cx="6902887" cy="47124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066" y="5873710"/>
            <a:ext cx="1485781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Ввод пользователя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0066" y="6128385"/>
            <a:ext cx="6667381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Неформатированная строка</a:t>
            </a:r>
            <a:endParaRPr lang="en-US" sz="14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284708"/>
            <a:ext cx="6902887" cy="47124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32953" y="5873710"/>
            <a:ext cx="1472803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Нормализация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432953" y="6128385"/>
            <a:ext cx="6667381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Нижний регистр, без пробелов</a:t>
            </a:r>
            <a:endParaRPr lang="en-US" sz="1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13" y="6434733"/>
            <a:ext cx="6902887" cy="47124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0066" y="7023735"/>
            <a:ext cx="1472803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Проверка Allowed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30066" y="7278410"/>
            <a:ext cx="6667381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Сравнение со списком допустимых значений</a:t>
            </a:r>
            <a:endParaRPr lang="en-US" sz="1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434733"/>
            <a:ext cx="6902887" cy="47124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32953" y="7023735"/>
            <a:ext cx="1472803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Запись </a:t>
            </a:r>
            <a:r>
              <a:rPr lang="en-US" sz="140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known/2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432953" y="7278410"/>
            <a:ext cx="6667381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Сохранение корректного ответа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12313" y="7717274"/>
            <a:ext cx="13805773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Здесь был бы скриншот кода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ask_all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ask_param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демонстрирующий реализацию опроса и валидации.</a:t>
            </a:r>
            <a:endParaRPr lang="en-US" sz="14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8F9A18C-4592-483E-A040-FF80E0FB0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950" y="7426404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0452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Механизм вывода Prolog и тестирование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Prolog использует уникальный механизм обратного вывода, который эффективно находит решения, а система тестирования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plunit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обеспечивает их надежность.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96835" y="1244441"/>
            <a:ext cx="304704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Механизм вывода (Prolog Inference)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1627108"/>
            <a:ext cx="4612243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0183" y="219408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Начало: Цель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0183" y="2439233"/>
            <a:ext cx="43855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Prolog пытается доказать цель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choose_plant(Plant)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078" y="1627108"/>
            <a:ext cx="4612243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2426" y="2194084"/>
            <a:ext cx="1605320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Правило </a:t>
            </a:r>
            <a:r>
              <a:rPr lang="en-US" sz="140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2426" y="2446853"/>
            <a:ext cx="43855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choose_plant(Plant) :- plant(Plant), !.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означает: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122426" y="2696289"/>
            <a:ext cx="43855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Перебрать все варианты, </a:t>
            </a:r>
            <a:r>
              <a:rPr lang="en-US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соответствующие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</a:p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предикату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plant(Plant)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03495" y="3115091"/>
            <a:ext cx="438554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При первом успешном доказательстве применить оператор "отсечения" (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cut).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322" y="1627108"/>
            <a:ext cx="4612243" cy="453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34669" y="2194084"/>
            <a:ext cx="190726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Результат: Одно решение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850326" y="2479770"/>
            <a:ext cx="438554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возвращает первое подходящее растение, найденное в базе знаний, и прекращает дальнейший поиск.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96835" y="3563660"/>
            <a:ext cx="213800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Объяснение результата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96835" y="394632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Предикат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explain(Plant)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разработан для предоставления пользователю прозрачной информации о причинах выбора конкретного растения.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66857" y="4382810"/>
            <a:ext cx="13666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Пример: "Это растение подходит по свету, влажности, требует минимального ухода и безопасно для питомцев."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96835" y="4255294"/>
            <a:ext cx="15240" cy="436483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0" name="Text 15"/>
          <p:cNvSpPr/>
          <p:nvPr/>
        </p:nvSpPr>
        <p:spPr>
          <a:xfrm>
            <a:off x="396835" y="4861798"/>
            <a:ext cx="19226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Тестирование с </a:t>
            </a:r>
            <a:r>
              <a:rPr lang="en-US" sz="140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plunit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96835" y="524446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Файл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plant_tests.pl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содержит набор юнит-тестов для проверки корректности логики подбора растений.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96835" y="5553432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96835" y="5730835"/>
            <a:ext cx="4536638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4" name="Text 19"/>
          <p:cNvSpPr/>
          <p:nvPr/>
        </p:nvSpPr>
        <p:spPr>
          <a:xfrm>
            <a:off x="396835" y="5817989"/>
            <a:ext cx="181094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Подключение и очистка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396835" y="6063139"/>
            <a:ext cx="453663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Подключает основной файл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plant.pl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</a:t>
            </a:r>
            <a:endParaRPr lang="ru-RU" sz="14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очищает динамическую память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known/2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046821" y="5553432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046821" y="5730835"/>
            <a:ext cx="4536638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8" name="Text 23"/>
          <p:cNvSpPr/>
          <p:nvPr/>
        </p:nvSpPr>
        <p:spPr>
          <a:xfrm>
            <a:off x="5046821" y="581798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Установка фактов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046821" y="6063139"/>
            <a:ext cx="453663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Использует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assertz(known(Key, Value))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ru-RU" sz="14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имитации ответов пользователя.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9696807" y="5553432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9696807" y="5730835"/>
            <a:ext cx="4536638" cy="1524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32" name="Text 27"/>
          <p:cNvSpPr/>
          <p:nvPr/>
        </p:nvSpPr>
        <p:spPr>
          <a:xfrm>
            <a:off x="9696807" y="5817989"/>
            <a:ext cx="180653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Выполнение и проверка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9696807" y="6063139"/>
            <a:ext cx="453663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Запускает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choose_plant(P)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endParaRPr lang="ru-RU" sz="14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сравнивает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результат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с ожидаемым значением.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504587" y="6931819"/>
            <a:ext cx="1362122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396835" y="932176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9B3AA47-A1B8-4F30-A0A8-A2AD66710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950" y="7444575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419338"/>
            <a:ext cx="50297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Сравнение реализаций и выводы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100048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 обобщения нашего обзора, давайте сравним три реализованные экспертные системы по ключевым аспектам, а затем подведем итоги и наметим направления для дальнейшего развития.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6835" y="1309449"/>
            <a:ext cx="13836729" cy="1678543"/>
          </a:xfrm>
          <a:prstGeom prst="roundRect">
            <a:avLst>
              <a:gd name="adj" fmla="val 10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4455" y="1317069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8041" y="1392674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Представление знаний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86125" y="1392674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Факты + Правила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41438" y="1392674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Отношения + Факты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6751" y="1392674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Предикаты + known/2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4455" y="1649730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8041" y="1725335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Тип вывода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6125" y="1725335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Прямой (forward chaining)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41438" y="1725335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Логический поиск (run()) + приоритет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96751" y="1725335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Обратный (backward chaining) + cut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4455" y="1982391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8041" y="2057995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Объяснимость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6125" y="2057995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Список explanations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41438" y="2057995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Тексты из rule_urgency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96751" y="2057995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explain/1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4455" y="2315051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8041" y="2390656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Тестирование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86125" y="2390656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YAML + test.py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1438" y="2390656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YAML + pytestsyaml.py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96751" y="2390656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plunit plant_tests.pl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4455" y="2647712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8041" y="2723317"/>
            <a:ext cx="253376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Интеграция 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6125" y="2723317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Tkinter форма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1438" y="2723317"/>
            <a:ext cx="322099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Tkinter форма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96751" y="2723317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Консольный диалог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6835" y="315801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Ключевые выводы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6835" y="360306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282824"/>
          </a:solidFill>
          <a:ln/>
        </p:spPr>
      </p:sp>
      <p:sp>
        <p:nvSpPr>
          <p:cNvPr id="32" name="Text 30"/>
          <p:cNvSpPr/>
          <p:nvPr/>
        </p:nvSpPr>
        <p:spPr>
          <a:xfrm>
            <a:off x="566857" y="3540681"/>
            <a:ext cx="667750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Experta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удобна для продукционных систем, основанных на правилах (rule-based)</a:t>
            </a:r>
            <a:endParaRPr lang="ru-RU" sz="12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с явной структурой правил.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86042" y="360306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282824"/>
          </a:solidFill>
          <a:ln/>
        </p:spPr>
      </p:sp>
      <p:sp>
        <p:nvSpPr>
          <p:cNvPr id="34" name="Text 32"/>
          <p:cNvSpPr/>
          <p:nvPr/>
        </p:nvSpPr>
        <p:spPr>
          <a:xfrm>
            <a:off x="7556063" y="3540681"/>
            <a:ext cx="667750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kanren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подходит, когда знания удобно хранить как отношения и выполнять логический поиск по ним.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6835" y="4011335"/>
            <a:ext cx="56674" cy="56674"/>
          </a:xfrm>
          <a:prstGeom prst="roundRect">
            <a:avLst>
              <a:gd name="adj" fmla="val 806719"/>
            </a:avLst>
          </a:prstGeom>
          <a:solidFill>
            <a:srgbClr val="28282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857" y="3948946"/>
            <a:ext cx="667750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Prolog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естественно выражает правила и использует обратный вывод; порядок правил и оператор </a:t>
            </a:r>
            <a:r>
              <a:rPr lang="en-US" sz="12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cut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влияют на итоговый результат.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86042" y="4011335"/>
            <a:ext cx="56674" cy="56674"/>
          </a:xfrm>
          <a:prstGeom prst="roundRect">
            <a:avLst>
              <a:gd name="adj" fmla="val 806719"/>
            </a:avLst>
          </a:prstGeom>
          <a:solidFill>
            <a:srgbClr val="282824"/>
          </a:solidFill>
          <a:ln/>
        </p:spPr>
      </p:sp>
      <p:sp>
        <p:nvSpPr>
          <p:cNvPr id="38" name="Text 36"/>
          <p:cNvSpPr/>
          <p:nvPr/>
        </p:nvSpPr>
        <p:spPr>
          <a:xfrm>
            <a:off x="7556063" y="3948946"/>
            <a:ext cx="667750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Использование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YAML и plunit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для тестов значительно повышает надежность и воспроизводимость результатов экспертных систем.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6835" y="4481870"/>
            <a:ext cx="263306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Направления для улучшений</a:t>
            </a:r>
            <a:endParaRPr lang="en-US" sz="12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41" y="4870192"/>
            <a:ext cx="170021" cy="170021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65334" y="4864537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Добавить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"трейс вывода"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(какие правила/флаги сработали) для повышения прозрачности.</a:t>
            </a:r>
            <a:endParaRPr lang="en-US" sz="12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41" y="5442883"/>
            <a:ext cx="170021" cy="170021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765334" y="5437227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Расширить базу правил и увеличить покрытие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тестовых кейсов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41" y="6015574"/>
            <a:ext cx="170021" cy="17002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65334" y="6006942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Вынести базу знаний из кода UI для лучшего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разделения слоев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приложения.</a:t>
            </a:r>
            <a:endParaRPr lang="en-US" sz="12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41" y="6588265"/>
            <a:ext cx="170021" cy="170021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65334" y="6579633"/>
            <a:ext cx="1346823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Реализовать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логирование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</a:t>
            </a:r>
            <a:r>
              <a:rPr lang="en-US" sz="1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конфигурирование приоритетов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правил.</a:t>
            </a:r>
            <a:endParaRPr lang="en-US" sz="1200" dirty="0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5812160-2EB0-4A95-A5D7-81D46B6CD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1950" y="7443430"/>
            <a:ext cx="2838450" cy="733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2975</Words>
  <Application>Microsoft Office PowerPoint</Application>
  <PresentationFormat>Произвольный</PresentationFormat>
  <Paragraphs>345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Consolas</vt:lpstr>
      <vt:lpstr>Lato Bold</vt:lpstr>
      <vt:lpstr>Lato</vt:lpstr>
      <vt:lpstr>Calibri</vt:lpstr>
      <vt:lpstr>Arial</vt:lpstr>
      <vt:lpstr>14</vt:lpstr>
      <vt:lpstr>Lato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Sosud</dc:creator>
  <cp:lastModifiedBy>Sosud</cp:lastModifiedBy>
  <cp:revision>5</cp:revision>
  <dcterms:created xsi:type="dcterms:W3CDTF">2025-12-18T21:59:08Z</dcterms:created>
  <dcterms:modified xsi:type="dcterms:W3CDTF">2025-12-19T05:03:23Z</dcterms:modified>
</cp:coreProperties>
</file>